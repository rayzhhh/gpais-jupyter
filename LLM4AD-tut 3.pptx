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77"/>
    <p:restoredTop sz="82721"/>
  </p:normalViewPr>
  <p:slideViewPr>
    <p:cSldViewPr snapToGrid="0">
      <p:cViewPr varScale="1">
        <p:scale>
          <a:sx n="105" d="100"/>
          <a:sy n="105" d="100"/>
        </p:scale>
        <p:origin x="808" y="184"/>
      </p:cViewPr>
      <p:guideLst/>
    </p:cSldViewPr>
  </p:slideViewPr>
  <p:notesTextViewPr>
    <p:cViewPr>
      <p:scale>
        <a:sx n="135" d="100"/>
        <a:sy n="13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0AD1E-A8BA-1D41-A450-E273330BF500}" type="datetimeFigureOut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B9050-A26C-D942-92AD-DF364C5D24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095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7B9050-A26C-D942-92AD-DF364C5D24A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5185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7B9050-A26C-D942-92AD-DF364C5D24A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0530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7B9050-A26C-D942-92AD-DF364C5D24A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5261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7B9050-A26C-D942-92AD-DF364C5D24A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9664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7B9050-A26C-D942-92AD-DF364C5D24A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3325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8F976-141E-1372-0767-6874E8B5D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AC68B6-D7B7-D6E7-AB42-BF1E89BB8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84ADF8-686D-322A-3919-6DB7A189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A828-EBA1-CC41-950E-5C434E3CA28A}" type="datetimeFigureOut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B1D153-A0D4-8B2B-77CD-2F5E4383E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FD8A41-D86C-01F7-FCC5-4798A9B9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6B76-FC8E-BC4C-9018-456928248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699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67717-8844-90F8-0818-206A551E1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7E9DB6-B1DE-C65B-C701-1027A9AD8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297293-D207-4D89-BDAF-CB12DF20F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A828-EBA1-CC41-950E-5C434E3CA28A}" type="datetimeFigureOut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5F1F3A-8982-0089-8BB9-C87A7BC9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FBEA03-4B03-8D93-BBDC-4AD8A6C1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6B76-FC8E-BC4C-9018-456928248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759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4CE53-CCF7-D82F-5E88-BFB4429D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7909D5-4B43-98DB-D99C-AD5083F6D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5BECD-82A0-2247-1AC3-F6F1439D2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A828-EBA1-CC41-950E-5C434E3CA28A}" type="datetimeFigureOut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011716-036B-6CE6-C7D3-85AC2702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64C6B6-C5BA-F396-056C-87151B8D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6B76-FC8E-BC4C-9018-456928248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5086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176556-D232-9988-0F80-4E9F5340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7DC89A-626E-AFA8-94DE-49AFA92B2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43CDF3-EDEA-F221-A065-C1CCEF343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609CBF-20FA-F622-15B2-95873DC8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A828-EBA1-CC41-950E-5C434E3CA28A}" type="datetimeFigureOut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5CE9FB-9241-C8DB-7A7B-5F910E95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78F343-D8CB-430B-CADD-8C1ACE73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6B76-FC8E-BC4C-9018-456928248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1980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D36E9-AA5B-B36C-C55F-E2A18CDE5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302F9C-78B3-93D1-84A4-2F45F7056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A3AE04-D3F6-C280-11FA-24B62A93C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5FFAF0-13FF-04AE-256F-BEF85D7FE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B06B89-5DAC-760C-20D0-F995E291AE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8B7F5E-DF04-6099-4F03-9B62D31D8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A828-EBA1-CC41-950E-5C434E3CA28A}" type="datetimeFigureOut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D70010-353D-C935-A9DE-878B8F53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FBDB9AF-0FA6-2875-F543-7A607AF3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6B76-FC8E-BC4C-9018-456928248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862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BF5B9-AB5B-41D5-274D-CD9E5AF28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4BC34D-A9E3-1092-A6B1-952871BD7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A828-EBA1-CC41-950E-5C434E3CA28A}" type="datetimeFigureOut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733E18-C368-BC94-1BE9-C64E1F97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894D7A-AAD1-DEDC-882A-4DBF049D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6B76-FC8E-BC4C-9018-456928248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5358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94B3C1-E0C8-A007-6CF3-D28EC977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A828-EBA1-CC41-950E-5C434E3CA28A}" type="datetimeFigureOut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A8764E1-8FA8-42AE-4AFB-328CDD01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AD9C53-3D2B-A232-B263-53D8F652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6B76-FC8E-BC4C-9018-456928248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585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9F267-30EE-7E7B-8583-9D29902E9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D052FF-5718-5AF3-BF9F-EB4C5DA2E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63CDEF-AFBE-CB54-59CF-EF792AA1F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2ECDFD-1042-11B8-F5D4-ED1C0968C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A828-EBA1-CC41-950E-5C434E3CA28A}" type="datetimeFigureOut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D8ABEF-3F37-73C0-E2F8-DAEBB3A7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F95AE3-BBEF-5726-2A68-C5D0DFE1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6B76-FC8E-BC4C-9018-456928248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3406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EE08D-507C-E764-E665-70208C19A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584832-10BF-B9F9-729C-5638F3E05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562B35-4AC5-3747-84AA-C21A4D852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B758C1-4427-0995-359B-63D958C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A828-EBA1-CC41-950E-5C434E3CA28A}" type="datetimeFigureOut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E7C4F8-2A90-432E-13DA-AF44F32D3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C6CD57-5750-F898-D101-3016C1C4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6B76-FC8E-BC4C-9018-456928248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700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54535-DCC5-0180-36B8-3CD53A07F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592ECC-0FE4-29D0-DB38-76799A75D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A7466A-5046-CA24-30D6-019BB40F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A828-EBA1-CC41-950E-5C434E3CA28A}" type="datetimeFigureOut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92729A-EBA3-CDFC-A0F2-BBF7DF0E3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6DF500-1F3C-4788-B6C8-A4427B77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6B76-FC8E-BC4C-9018-456928248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6431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11C505D-712D-D761-0B67-AA39AB945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90433B-F865-CF6A-226C-7C41578FC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A7144E-0A81-5D20-70AE-E259D2B38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A828-EBA1-CC41-950E-5C434E3CA28A}" type="datetimeFigureOut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5A3AA7-1526-BC0C-8FB1-131352F15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7BFD28-F96B-114A-84D3-B0CF3D652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6B76-FC8E-BC4C-9018-456928248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189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EB75AA-354A-BFE0-4C9B-FCD7443DB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F57E49-2CF4-6DB7-C2B4-9C5E5D162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02999E-F999-2704-1115-89B8B8825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32A828-EBA1-CC41-950E-5C434E3CA28A}" type="datetimeFigureOut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AFD3E-CFF0-C794-CC3A-DBCAADDE1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FDD768-9D45-4038-2012-778065ED3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16B76-FC8E-BC4C-9018-456928248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098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3BBBD-7353-77EC-694A-9F5D17479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00" y="3440243"/>
            <a:ext cx="8772195" cy="1271487"/>
          </a:xfrm>
        </p:spPr>
        <p:txBody>
          <a:bodyPr anchor="ctr">
            <a:normAutofit/>
          </a:bodyPr>
          <a:lstStyle/>
          <a:p>
            <a:r>
              <a:rPr kumimoji="1" lang="en-US" altLang="zh-CN" sz="5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Use </a:t>
            </a:r>
            <a:r>
              <a:rPr kumimoji="1" lang="en-US" altLang="zh-CN" sz="5400" b="1" i="1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LLMAD </a:t>
            </a:r>
            <a:r>
              <a:rPr kumimoji="1" lang="en-US" altLang="zh-CN" sz="5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to Solve Your Task </a:t>
            </a:r>
            <a:br>
              <a:rPr kumimoji="1" lang="en-US" altLang="zh-CN" sz="40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</a:br>
            <a:r>
              <a:rPr kumimoji="1" lang="en-US" altLang="zh-CN" sz="28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(Example on TSP Heuristic Design)</a:t>
            </a:r>
            <a:endParaRPr kumimoji="1" lang="zh-CN" altLang="en-US" sz="40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606CB0-D609-775B-BFB0-641021290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105606"/>
            <a:ext cx="9144000" cy="1159147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LLM4AD Team</a:t>
            </a: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Dec. 2024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3562F6-31C0-26B1-1EAC-7437C59E4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229" y="235120"/>
            <a:ext cx="2521541" cy="473907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04261015-C650-B94B-D45F-2EE742D724DA}"/>
              </a:ext>
            </a:extLst>
          </p:cNvPr>
          <p:cNvSpPr txBox="1">
            <a:spLocks/>
          </p:cNvSpPr>
          <p:nvPr/>
        </p:nvSpPr>
        <p:spPr>
          <a:xfrm>
            <a:off x="1236687" y="1855771"/>
            <a:ext cx="9718623" cy="1757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4400" b="1" i="1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LLM4AD</a:t>
            </a:r>
            <a:r>
              <a:rPr kumimoji="1" lang="en-US" altLang="zh-CN" sz="4400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1" lang="en-US" altLang="zh-CN" sz="4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Tutorial</a:t>
            </a:r>
            <a:r>
              <a:rPr kumimoji="1" lang="zh-CN" altLang="en-US" sz="4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1" lang="en-US" altLang="zh-CN" sz="44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Section I</a:t>
            </a:r>
            <a:endParaRPr kumimoji="1" lang="zh-CN" altLang="en-US" sz="44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759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40287BE-F464-546E-789F-32B494F3E4F7}"/>
              </a:ext>
            </a:extLst>
          </p:cNvPr>
          <p:cNvSpPr txBox="1">
            <a:spLocks/>
          </p:cNvSpPr>
          <p:nvPr/>
        </p:nvSpPr>
        <p:spPr>
          <a:xfrm>
            <a:off x="638869" y="178563"/>
            <a:ext cx="8623289" cy="11994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1. Formulate the problem</a:t>
            </a:r>
            <a:endParaRPr kumimoji="1" lang="zh-CN" altLang="en-US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51EB8CD-0D5B-07BC-C943-057CE5F90D00}"/>
              </a:ext>
            </a:extLst>
          </p:cNvPr>
          <p:cNvSpPr/>
          <p:nvPr/>
        </p:nvSpPr>
        <p:spPr>
          <a:xfrm>
            <a:off x="913417" y="4223153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BD5F3B-CA88-D892-2894-715565859F6C}"/>
              </a:ext>
            </a:extLst>
          </p:cNvPr>
          <p:cNvSpPr/>
          <p:nvPr/>
        </p:nvSpPr>
        <p:spPr>
          <a:xfrm>
            <a:off x="2694994" y="2742082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E4FA7BD-3ABA-086C-7317-7A47A7A2630E}"/>
              </a:ext>
            </a:extLst>
          </p:cNvPr>
          <p:cNvSpPr/>
          <p:nvPr/>
        </p:nvSpPr>
        <p:spPr>
          <a:xfrm>
            <a:off x="4025811" y="3416339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0D38674-026C-13BD-DC1B-DFE1C524196F}"/>
              </a:ext>
            </a:extLst>
          </p:cNvPr>
          <p:cNvSpPr/>
          <p:nvPr/>
        </p:nvSpPr>
        <p:spPr>
          <a:xfrm>
            <a:off x="3147902" y="3944110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9FE9EC7-DF78-9A72-9E46-262C37ADE033}"/>
              </a:ext>
            </a:extLst>
          </p:cNvPr>
          <p:cNvSpPr/>
          <p:nvPr/>
        </p:nvSpPr>
        <p:spPr>
          <a:xfrm>
            <a:off x="1797765" y="2160385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glow rad="210692">
              <a:srgbClr val="FFC000">
                <a:alpha val="44505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189E568-C0E3-0C68-E42A-1084B814E351}"/>
              </a:ext>
            </a:extLst>
          </p:cNvPr>
          <p:cNvSpPr/>
          <p:nvPr/>
        </p:nvSpPr>
        <p:spPr>
          <a:xfrm>
            <a:off x="3340010" y="5107504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B5DACA8-4D2C-0C0C-CEFF-7A66CC96EF98}"/>
              </a:ext>
            </a:extLst>
          </p:cNvPr>
          <p:cNvSpPr/>
          <p:nvPr/>
        </p:nvSpPr>
        <p:spPr>
          <a:xfrm>
            <a:off x="1520869" y="5498693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4C3A4657-C456-BEF4-28E2-7EAFEAAD5EA7}"/>
              </a:ext>
            </a:extLst>
          </p:cNvPr>
          <p:cNvCxnSpPr>
            <a:cxnSpLocks/>
            <a:stCxn id="5" idx="0"/>
            <a:endCxn id="9" idx="3"/>
          </p:cNvCxnSpPr>
          <p:nvPr/>
        </p:nvCxnSpPr>
        <p:spPr>
          <a:xfrm flipV="1">
            <a:off x="1138798" y="2545133"/>
            <a:ext cx="724979" cy="1678020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DB4555D8-C02B-1175-B3F3-7E445B8749D0}"/>
              </a:ext>
            </a:extLst>
          </p:cNvPr>
          <p:cNvCxnSpPr>
            <a:cxnSpLocks/>
            <a:stCxn id="9" idx="5"/>
            <a:endCxn id="6" idx="1"/>
          </p:cNvCxnSpPr>
          <p:nvPr/>
        </p:nvCxnSpPr>
        <p:spPr>
          <a:xfrm>
            <a:off x="2182514" y="2545133"/>
            <a:ext cx="578492" cy="262961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DB325E26-210B-378A-7140-45E42774B416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 flipH="1">
            <a:off x="1746250" y="3192842"/>
            <a:ext cx="1174125" cy="2305851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7D0A9F64-412A-DB92-EBD7-32195FECAB1E}"/>
              </a:ext>
            </a:extLst>
          </p:cNvPr>
          <p:cNvCxnSpPr>
            <a:cxnSpLocks/>
            <a:stCxn id="11" idx="7"/>
            <a:endCxn id="8" idx="2"/>
          </p:cNvCxnSpPr>
          <p:nvPr/>
        </p:nvCxnSpPr>
        <p:spPr>
          <a:xfrm flipV="1">
            <a:off x="1905618" y="4169490"/>
            <a:ext cx="1242284" cy="1395215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9CF9382D-BBE2-A649-75C7-440C92F0E89D}"/>
              </a:ext>
            </a:extLst>
          </p:cNvPr>
          <p:cNvCxnSpPr>
            <a:cxnSpLocks/>
            <a:stCxn id="8" idx="7"/>
            <a:endCxn id="7" idx="2"/>
          </p:cNvCxnSpPr>
          <p:nvPr/>
        </p:nvCxnSpPr>
        <p:spPr>
          <a:xfrm flipV="1">
            <a:off x="3532651" y="3641719"/>
            <a:ext cx="493160" cy="368403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97C7F6B1-D267-40C7-2DE9-1E53C3FC670A}"/>
              </a:ext>
            </a:extLst>
          </p:cNvPr>
          <p:cNvCxnSpPr>
            <a:cxnSpLocks/>
            <a:stCxn id="7" idx="4"/>
            <a:endCxn id="10" idx="7"/>
          </p:cNvCxnSpPr>
          <p:nvPr/>
        </p:nvCxnSpPr>
        <p:spPr>
          <a:xfrm flipH="1">
            <a:off x="3724759" y="3867099"/>
            <a:ext cx="526433" cy="1306417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E972C669-1227-EE38-F32B-EFEAA66EC072}"/>
              </a:ext>
            </a:extLst>
          </p:cNvPr>
          <p:cNvCxnSpPr>
            <a:cxnSpLocks/>
            <a:stCxn id="10" idx="1"/>
            <a:endCxn id="5" idx="5"/>
          </p:cNvCxnSpPr>
          <p:nvPr/>
        </p:nvCxnSpPr>
        <p:spPr>
          <a:xfrm flipH="1" flipV="1">
            <a:off x="1298166" y="4607901"/>
            <a:ext cx="2107856" cy="565615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A0B25B3A-1BBD-EEAB-1727-2038C7F4806F}"/>
              </a:ext>
            </a:extLst>
          </p:cNvPr>
          <p:cNvSpPr txBox="1"/>
          <p:nvPr/>
        </p:nvSpPr>
        <p:spPr>
          <a:xfrm>
            <a:off x="2360123" y="1627127"/>
            <a:ext cx="1477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Starting Node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EEFD8280-A3F5-B0F6-3432-6694ACADC79C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2360123" y="1996459"/>
            <a:ext cx="738536" cy="2688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AED8D259-9113-3397-EB2D-0C021F71FC65}"/>
              </a:ext>
            </a:extLst>
          </p:cNvPr>
          <p:cNvSpPr txBox="1"/>
          <p:nvPr/>
        </p:nvSpPr>
        <p:spPr>
          <a:xfrm>
            <a:off x="4828049" y="2385765"/>
            <a:ext cx="69590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28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Input: </a:t>
            </a: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Given a distance matrix.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28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Objective: </a:t>
            </a: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Minimizing the route.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28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Constraint: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The starting node is randomly selected.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Traverse all cities </a:t>
            </a:r>
            <a:r>
              <a:rPr kumimoji="1" lang="en-US" altLang="zh-CN" sz="2800" u="sng" dirty="0">
                <a:latin typeface="Calibri" panose="020F0502020204030204" pitchFamily="34" charset="0"/>
                <a:cs typeface="Calibri" panose="020F0502020204030204" pitchFamily="34" charset="0"/>
              </a:rPr>
              <a:t>only once</a:t>
            </a: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Back to the starting node.</a:t>
            </a:r>
            <a:endParaRPr kumimoji="1"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00872CA2-B5B0-B402-13DA-8D06D9FF1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229" y="235120"/>
            <a:ext cx="2521541" cy="47390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097C62D-9D96-F5A0-AB1D-C6D7B003A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38" y="1059056"/>
            <a:ext cx="8035585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52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18EC8-AFE0-67F8-C0CC-A791FD8CC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文本, 信件&#10;&#10;描述已自动生成">
            <a:extLst>
              <a:ext uri="{FF2B5EF4-FFF2-40B4-BE49-F238E27FC236}">
                <a16:creationId xmlns:a16="http://schemas.microsoft.com/office/drawing/2014/main" id="{1F07F902-3BDF-02CE-CCF4-C18107C15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158" y="3274189"/>
            <a:ext cx="6029515" cy="2524755"/>
          </a:xfrm>
          <a:prstGeom prst="rect">
            <a:avLst/>
          </a:prstGeom>
          <a:ln w="25400">
            <a:solidFill>
              <a:schemeClr val="accent5">
                <a:lumMod val="20000"/>
                <a:lumOff val="80000"/>
              </a:schemeClr>
            </a:solidFill>
          </a:ln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B25290F5-F611-F65D-5265-EF347274D9D7}"/>
              </a:ext>
            </a:extLst>
          </p:cNvPr>
          <p:cNvSpPr txBox="1"/>
          <p:nvPr/>
        </p:nvSpPr>
        <p:spPr>
          <a:xfrm>
            <a:off x="4922654" y="2106951"/>
            <a:ext cx="6360524" cy="646331"/>
          </a:xfrm>
          <a:prstGeom prst="rect">
            <a:avLst/>
          </a:prstGeom>
          <a:noFill/>
          <a:ln w="25400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We input the </a:t>
            </a:r>
            <a:r>
              <a:rPr kumimoji="1"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distance matrix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1"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current node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kumimoji="1"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unvisited nodes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We expect the next node to go.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1A04DFD-CB11-2F5C-F347-6C78D3C13441}"/>
              </a:ext>
            </a:extLst>
          </p:cNvPr>
          <p:cNvSpPr txBox="1">
            <a:spLocks/>
          </p:cNvSpPr>
          <p:nvPr/>
        </p:nvSpPr>
        <p:spPr>
          <a:xfrm>
            <a:off x="638869" y="178563"/>
            <a:ext cx="8623289" cy="11994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2. Understand the algorithm design task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E6CFD00-8859-E4BE-BEF9-7F9F6870DBA5}"/>
              </a:ext>
            </a:extLst>
          </p:cNvPr>
          <p:cNvSpPr/>
          <p:nvPr/>
        </p:nvSpPr>
        <p:spPr>
          <a:xfrm>
            <a:off x="913417" y="4223153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91CA1BA-C5B9-F17E-71B0-99F11D5835B7}"/>
              </a:ext>
            </a:extLst>
          </p:cNvPr>
          <p:cNvSpPr/>
          <p:nvPr/>
        </p:nvSpPr>
        <p:spPr>
          <a:xfrm>
            <a:off x="2694994" y="2742082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glow rad="180501">
              <a:srgbClr val="FFC000">
                <a:alpha val="40000"/>
              </a:srgb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1A0A75D-D71B-3E96-BA77-132BC30DF4BC}"/>
              </a:ext>
            </a:extLst>
          </p:cNvPr>
          <p:cNvSpPr/>
          <p:nvPr/>
        </p:nvSpPr>
        <p:spPr>
          <a:xfrm>
            <a:off x="4025811" y="3416339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BDED154-80D6-48BC-A812-50D088326091}"/>
              </a:ext>
            </a:extLst>
          </p:cNvPr>
          <p:cNvSpPr/>
          <p:nvPr/>
        </p:nvSpPr>
        <p:spPr>
          <a:xfrm>
            <a:off x="3147902" y="3944110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1AA7A16-CABD-A494-661D-187EAED6F408}"/>
              </a:ext>
            </a:extLst>
          </p:cNvPr>
          <p:cNvSpPr/>
          <p:nvPr/>
        </p:nvSpPr>
        <p:spPr>
          <a:xfrm>
            <a:off x="1797765" y="2160385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891F5CE-E744-E34D-084C-E264D3F04D55}"/>
              </a:ext>
            </a:extLst>
          </p:cNvPr>
          <p:cNvSpPr/>
          <p:nvPr/>
        </p:nvSpPr>
        <p:spPr>
          <a:xfrm>
            <a:off x="3340010" y="5107504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2C1A98D-BCC1-A8C4-059B-07A877E08F6E}"/>
              </a:ext>
            </a:extLst>
          </p:cNvPr>
          <p:cNvSpPr/>
          <p:nvPr/>
        </p:nvSpPr>
        <p:spPr>
          <a:xfrm>
            <a:off x="1520869" y="5498693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81DBD17F-A861-FC0A-FBC6-76FD6DA2E8DC}"/>
              </a:ext>
            </a:extLst>
          </p:cNvPr>
          <p:cNvCxnSpPr>
            <a:cxnSpLocks/>
            <a:stCxn id="6" idx="1"/>
            <a:endCxn id="9" idx="5"/>
          </p:cNvCxnSpPr>
          <p:nvPr/>
        </p:nvCxnSpPr>
        <p:spPr>
          <a:xfrm flipH="1" flipV="1">
            <a:off x="2182514" y="2545133"/>
            <a:ext cx="578492" cy="262961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prstDash val="sysDash"/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024FEC33-FABB-10B0-F325-7E607E4E7151}"/>
              </a:ext>
            </a:extLst>
          </p:cNvPr>
          <p:cNvCxnSpPr>
            <a:cxnSpLocks/>
            <a:stCxn id="6" idx="3"/>
            <a:endCxn id="11" idx="0"/>
          </p:cNvCxnSpPr>
          <p:nvPr/>
        </p:nvCxnSpPr>
        <p:spPr>
          <a:xfrm flipH="1">
            <a:off x="1746250" y="3126830"/>
            <a:ext cx="1014756" cy="2371863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prstDash val="sysDash"/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9F37D6FD-4C35-3E83-0F37-E960CFF4621A}"/>
              </a:ext>
            </a:extLst>
          </p:cNvPr>
          <p:cNvSpPr txBox="1"/>
          <p:nvPr/>
        </p:nvSpPr>
        <p:spPr>
          <a:xfrm>
            <a:off x="2599522" y="1917959"/>
            <a:ext cx="1335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We are here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367B2395-5279-73D9-C2ED-1D8D121685B6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3052119" y="2287291"/>
            <a:ext cx="215182" cy="323854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B0CA5A7F-20CA-A6A5-9B88-D21B3D2EA41B}"/>
              </a:ext>
            </a:extLst>
          </p:cNvPr>
          <p:cNvSpPr txBox="1"/>
          <p:nvPr/>
        </p:nvSpPr>
        <p:spPr>
          <a:xfrm>
            <a:off x="5094994" y="1453766"/>
            <a:ext cx="6308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💡Design a constructive heuristic</a:t>
            </a:r>
            <a:r>
              <a:rPr kumimoji="1"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1"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9F6B1E73-DA9D-5075-CC39-5DDF5E22B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229" y="235120"/>
            <a:ext cx="2521541" cy="47390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962ADD07-9DE5-1C69-A53E-34E5127F1278}"/>
              </a:ext>
            </a:extLst>
          </p:cNvPr>
          <p:cNvSpPr txBox="1"/>
          <p:nvPr/>
        </p:nvSpPr>
        <p:spPr>
          <a:xfrm rot="1452020">
            <a:off x="1383610" y="2653696"/>
            <a:ext cx="1279068" cy="276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 to the nearest</a:t>
            </a:r>
            <a:endParaRPr kumimoji="1" lang="zh-CN" altLang="en-US" sz="1200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AFC019-3D61-9B4D-03A7-E9A519CE27F6}"/>
              </a:ext>
            </a:extLst>
          </p:cNvPr>
          <p:cNvSpPr txBox="1"/>
          <p:nvPr/>
        </p:nvSpPr>
        <p:spPr>
          <a:xfrm rot="17605929">
            <a:off x="1791484" y="4134081"/>
            <a:ext cx="1298945" cy="276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 to the farthest</a:t>
            </a:r>
            <a:endParaRPr kumimoji="1" lang="zh-CN" altLang="en-US" sz="1200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B4AE219C-63AB-96AB-5A82-2C4B7FB1A235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7354030" y="2753282"/>
            <a:ext cx="748886" cy="50180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DEC92110-00B9-73D3-EA53-C5E1D943A44B}"/>
              </a:ext>
            </a:extLst>
          </p:cNvPr>
          <p:cNvCxnSpPr>
            <a:cxnSpLocks/>
            <a:stCxn id="39" idx="2"/>
            <a:endCxn id="13" idx="0"/>
          </p:cNvCxnSpPr>
          <p:nvPr/>
        </p:nvCxnSpPr>
        <p:spPr>
          <a:xfrm>
            <a:off x="8102916" y="2753282"/>
            <a:ext cx="0" cy="52090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26B2F2B9-9E15-EC62-6949-A326F2B633DD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8102916" y="2753282"/>
            <a:ext cx="1284271" cy="50180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05F42F25-A097-A22E-8046-59AC249D5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338" y="1059056"/>
            <a:ext cx="8035585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6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52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10291-6DE5-112F-69A9-97FAA0CE4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文本&#10;&#10;描述已自动生成">
            <a:extLst>
              <a:ext uri="{FF2B5EF4-FFF2-40B4-BE49-F238E27FC236}">
                <a16:creationId xmlns:a16="http://schemas.microsoft.com/office/drawing/2014/main" id="{66D1C6CE-7952-C3F0-2CF0-0BF8F642F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28" y="2579381"/>
            <a:ext cx="6050881" cy="1371045"/>
          </a:xfrm>
          <a:prstGeom prst="rect">
            <a:avLst/>
          </a:prstGeom>
          <a:ln w="25400">
            <a:solidFill>
              <a:schemeClr val="accent5">
                <a:lumMod val="20000"/>
                <a:lumOff val="80000"/>
              </a:schemeClr>
            </a:solidFill>
          </a:ln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002D1014-8AFA-2F8C-4B36-6D6C63B06B25}"/>
              </a:ext>
            </a:extLst>
          </p:cNvPr>
          <p:cNvSpPr txBox="1">
            <a:spLocks/>
          </p:cNvSpPr>
          <p:nvPr/>
        </p:nvSpPr>
        <p:spPr>
          <a:xfrm>
            <a:off x="638869" y="178563"/>
            <a:ext cx="8623289" cy="11994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3. Measure the performance score</a:t>
            </a:r>
            <a:endParaRPr kumimoji="1" lang="zh-CN" altLang="en-US" sz="36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D6B6F77-8CD0-7C4D-602C-360EC3CDE90E}"/>
              </a:ext>
            </a:extLst>
          </p:cNvPr>
          <p:cNvSpPr/>
          <p:nvPr/>
        </p:nvSpPr>
        <p:spPr>
          <a:xfrm>
            <a:off x="7849168" y="4624811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EDC77D6-E9EB-3C51-54AC-19B55A3C66E7}"/>
              </a:ext>
            </a:extLst>
          </p:cNvPr>
          <p:cNvSpPr/>
          <p:nvPr/>
        </p:nvSpPr>
        <p:spPr>
          <a:xfrm>
            <a:off x="9630745" y="3143740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glow rad="180501">
              <a:srgbClr val="FFC000">
                <a:alpha val="40000"/>
              </a:srgb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6E74302-477D-0C3E-013C-D45FF7072101}"/>
              </a:ext>
            </a:extLst>
          </p:cNvPr>
          <p:cNvSpPr/>
          <p:nvPr/>
        </p:nvSpPr>
        <p:spPr>
          <a:xfrm>
            <a:off x="10961562" y="3817997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9EB8736-B3AB-8C1A-A885-D0C603BF33D7}"/>
              </a:ext>
            </a:extLst>
          </p:cNvPr>
          <p:cNvSpPr/>
          <p:nvPr/>
        </p:nvSpPr>
        <p:spPr>
          <a:xfrm>
            <a:off x="10083653" y="4345768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232F7AB-F756-D6B0-CF67-614815764C32}"/>
              </a:ext>
            </a:extLst>
          </p:cNvPr>
          <p:cNvSpPr/>
          <p:nvPr/>
        </p:nvSpPr>
        <p:spPr>
          <a:xfrm>
            <a:off x="8733516" y="2562043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9D3B951-C1D1-3EAA-52DB-23DF10FD6036}"/>
              </a:ext>
            </a:extLst>
          </p:cNvPr>
          <p:cNvSpPr/>
          <p:nvPr/>
        </p:nvSpPr>
        <p:spPr>
          <a:xfrm>
            <a:off x="10275761" y="5509162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89DC862-F1ED-FB10-8238-84F7F74EBE68}"/>
              </a:ext>
            </a:extLst>
          </p:cNvPr>
          <p:cNvSpPr/>
          <p:nvPr/>
        </p:nvSpPr>
        <p:spPr>
          <a:xfrm>
            <a:off x="8456620" y="5900351"/>
            <a:ext cx="450761" cy="4507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F1472D72-C3F0-63CE-AF4F-039DFE8A6676}"/>
              </a:ext>
            </a:extLst>
          </p:cNvPr>
          <p:cNvCxnSpPr>
            <a:cxnSpLocks/>
            <a:stCxn id="6" idx="1"/>
            <a:endCxn id="9" idx="5"/>
          </p:cNvCxnSpPr>
          <p:nvPr/>
        </p:nvCxnSpPr>
        <p:spPr>
          <a:xfrm flipH="1" flipV="1">
            <a:off x="9118265" y="2946791"/>
            <a:ext cx="578492" cy="262961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prstDash val="sysDash"/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0C047D17-1EC9-E897-656A-48B63292F14F}"/>
              </a:ext>
            </a:extLst>
          </p:cNvPr>
          <p:cNvCxnSpPr>
            <a:cxnSpLocks/>
            <a:stCxn id="9" idx="4"/>
            <a:endCxn id="5" idx="7"/>
          </p:cNvCxnSpPr>
          <p:nvPr/>
        </p:nvCxnSpPr>
        <p:spPr>
          <a:xfrm flipH="1">
            <a:off x="8233917" y="3012803"/>
            <a:ext cx="724980" cy="1678020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prstDash val="sysDash"/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EFB215C0-53CC-E630-AA1E-8FDC30FBEF45}"/>
              </a:ext>
            </a:extLst>
          </p:cNvPr>
          <p:cNvSpPr txBox="1"/>
          <p:nvPr/>
        </p:nvSpPr>
        <p:spPr>
          <a:xfrm>
            <a:off x="554996" y="1756659"/>
            <a:ext cx="5674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💡Algorithm: select the nearest node</a:t>
            </a:r>
            <a:endParaRPr kumimoji="1"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4AF8C046-AE81-005A-F505-B63F69874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229" y="235120"/>
            <a:ext cx="2521541" cy="473907"/>
          </a:xfrm>
          <a:prstGeom prst="rect">
            <a:avLst/>
          </a:prstGeom>
        </p:spPr>
      </p:pic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716137DE-97BD-7CC3-12B5-CF224FCE7AB9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8233917" y="5009559"/>
            <a:ext cx="288715" cy="956804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prstDash val="sysDash"/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B8AC65F-D121-2A2E-CAB1-DBFA6C4E6500}"/>
              </a:ext>
            </a:extLst>
          </p:cNvPr>
          <p:cNvCxnSpPr>
            <a:cxnSpLocks/>
            <a:stCxn id="11" idx="6"/>
            <a:endCxn id="10" idx="3"/>
          </p:cNvCxnSpPr>
          <p:nvPr/>
        </p:nvCxnSpPr>
        <p:spPr>
          <a:xfrm flipV="1">
            <a:off x="8907381" y="5893910"/>
            <a:ext cx="1434392" cy="231821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prstDash val="sysDash"/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7844FDE4-49F3-087E-7395-F24B6AC899CA}"/>
              </a:ext>
            </a:extLst>
          </p:cNvPr>
          <p:cNvCxnSpPr>
            <a:cxnSpLocks/>
            <a:stCxn id="10" idx="0"/>
            <a:endCxn id="8" idx="4"/>
          </p:cNvCxnSpPr>
          <p:nvPr/>
        </p:nvCxnSpPr>
        <p:spPr>
          <a:xfrm flipH="1" flipV="1">
            <a:off x="10309034" y="4796528"/>
            <a:ext cx="192108" cy="712634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prstDash val="sysDash"/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4B3D5E90-6E8D-A5AD-BBBF-507A640EFF8B}"/>
              </a:ext>
            </a:extLst>
          </p:cNvPr>
          <p:cNvCxnSpPr>
            <a:cxnSpLocks/>
            <a:stCxn id="8" idx="7"/>
            <a:endCxn id="7" idx="2"/>
          </p:cNvCxnSpPr>
          <p:nvPr/>
        </p:nvCxnSpPr>
        <p:spPr>
          <a:xfrm flipV="1">
            <a:off x="10468402" y="4043377"/>
            <a:ext cx="493160" cy="368403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prstDash val="sysDash"/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FD9DE8CD-3ADA-4067-B9F3-C4C197AF0284}"/>
              </a:ext>
            </a:extLst>
          </p:cNvPr>
          <p:cNvCxnSpPr>
            <a:cxnSpLocks/>
            <a:stCxn id="7" idx="1"/>
            <a:endCxn id="6" idx="6"/>
          </p:cNvCxnSpPr>
          <p:nvPr/>
        </p:nvCxnSpPr>
        <p:spPr>
          <a:xfrm flipH="1" flipV="1">
            <a:off x="10081506" y="3369120"/>
            <a:ext cx="946068" cy="514889"/>
          </a:xfrm>
          <a:prstGeom prst="straightConnector1">
            <a:avLst/>
          </a:prstGeom>
          <a:ln w="63500">
            <a:solidFill>
              <a:schemeClr val="accent5">
                <a:lumMod val="75000"/>
                <a:alpha val="70000"/>
              </a:schemeClr>
            </a:solidFill>
            <a:prstDash val="sysDash"/>
            <a:tailEnd type="arrow"/>
          </a:ln>
          <a:effectLst>
            <a:outerShdw blurRad="101600" dist="38100" dir="2700000" algn="tl" rotWithShape="0">
              <a:schemeClr val="accent5">
                <a:lumMod val="50000"/>
                <a:alpha val="6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5F3727A4-5F4B-9861-EBC6-FAD0927816E7}"/>
              </a:ext>
            </a:extLst>
          </p:cNvPr>
          <p:cNvSpPr txBox="1"/>
          <p:nvPr/>
        </p:nvSpPr>
        <p:spPr>
          <a:xfrm>
            <a:off x="7531176" y="1756659"/>
            <a:ext cx="3881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📝Evaluate the algorithm</a:t>
            </a:r>
            <a:endParaRPr kumimoji="1"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右箭头 41">
            <a:extLst>
              <a:ext uri="{FF2B5EF4-FFF2-40B4-BE49-F238E27FC236}">
                <a16:creationId xmlns:a16="http://schemas.microsoft.com/office/drawing/2014/main" id="{CD06A34C-90BC-41E1-3D7F-2BB057BE57D6}"/>
              </a:ext>
            </a:extLst>
          </p:cNvPr>
          <p:cNvSpPr/>
          <p:nvPr/>
        </p:nvSpPr>
        <p:spPr>
          <a:xfrm flipH="1">
            <a:off x="7086883" y="5515807"/>
            <a:ext cx="450761" cy="365011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7030A0"/>
            </a:solidFill>
          </a:ln>
          <a:effectLst>
            <a:outerShdw blurRad="100251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BC075EE-062E-5993-7C7A-6F459463F66C}"/>
              </a:ext>
            </a:extLst>
          </p:cNvPr>
          <p:cNvSpPr txBox="1"/>
          <p:nvPr/>
        </p:nvSpPr>
        <p:spPr>
          <a:xfrm>
            <a:off x="4269744" y="5436702"/>
            <a:ext cx="2907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Total distance: </a:t>
            </a:r>
            <a:r>
              <a:rPr kumimoji="1" lang="en-US" altLang="zh-CN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42</a:t>
            </a:r>
            <a:endParaRPr kumimoji="1" lang="zh-CN" altLang="en-US" sz="2800" b="1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C09C50E-D2C7-3158-B10A-4806B0ECB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338" y="1059056"/>
            <a:ext cx="8035585" cy="127000"/>
          </a:xfrm>
          <a:prstGeom prst="rect">
            <a:avLst/>
          </a:prstGeom>
        </p:spPr>
      </p:pic>
      <p:sp>
        <p:nvSpPr>
          <p:cNvPr id="12" name="右箭头 11">
            <a:extLst>
              <a:ext uri="{FF2B5EF4-FFF2-40B4-BE49-F238E27FC236}">
                <a16:creationId xmlns:a16="http://schemas.microsoft.com/office/drawing/2014/main" id="{3BED739A-C56C-2525-3444-445497DB9D6A}"/>
              </a:ext>
            </a:extLst>
          </p:cNvPr>
          <p:cNvSpPr/>
          <p:nvPr/>
        </p:nvSpPr>
        <p:spPr>
          <a:xfrm rot="5400000" flipH="1">
            <a:off x="4924953" y="4576387"/>
            <a:ext cx="1042733" cy="36501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7030A0"/>
            </a:solidFill>
          </a:ln>
          <a:effectLst>
            <a:outerShdw blurRad="100251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6474B8-15F7-11BF-8F5A-4DE2AA0BE9A3}"/>
              </a:ext>
            </a:extLst>
          </p:cNvPr>
          <p:cNvSpPr txBox="1"/>
          <p:nvPr/>
        </p:nvSpPr>
        <p:spPr>
          <a:xfrm>
            <a:off x="4626949" y="3520157"/>
            <a:ext cx="163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Score: </a:t>
            </a:r>
            <a:r>
              <a:rPr kumimoji="1" lang="en-US" altLang="zh-CN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42</a:t>
            </a:r>
            <a:endParaRPr kumimoji="1" lang="zh-CN" altLang="en-US" sz="2800" b="1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8D596B7A-BA84-AE5D-F780-B90470082BE8}"/>
              </a:ext>
            </a:extLst>
          </p:cNvPr>
          <p:cNvSpPr/>
          <p:nvPr/>
        </p:nvSpPr>
        <p:spPr>
          <a:xfrm rot="10800000" flipH="1">
            <a:off x="6975308" y="3115617"/>
            <a:ext cx="450761" cy="36501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7030A0"/>
            </a:solidFill>
          </a:ln>
          <a:effectLst>
            <a:outerShdw blurRad="100251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871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repeatCount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repeatCount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repeatCount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repeatCount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repeatCount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2" repeatCount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12" grpId="0" animBg="1"/>
      <p:bldP spid="13" grpId="0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FE1DE2E-38A3-6668-735A-9C367948E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229" y="235120"/>
            <a:ext cx="2521541" cy="473907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5C568969-5552-F2C7-9862-6779E803876D}"/>
              </a:ext>
            </a:extLst>
          </p:cNvPr>
          <p:cNvGrpSpPr/>
          <p:nvPr/>
        </p:nvGrpSpPr>
        <p:grpSpPr>
          <a:xfrm>
            <a:off x="1147380" y="3522661"/>
            <a:ext cx="9897237" cy="2486247"/>
            <a:chOff x="1147382" y="2529000"/>
            <a:chExt cx="9897237" cy="2486247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0BD284E-18DA-BD69-E319-587247C53A61}"/>
                </a:ext>
              </a:extLst>
            </p:cNvPr>
            <p:cNvSpPr txBox="1"/>
            <p:nvPr/>
          </p:nvSpPr>
          <p:spPr>
            <a:xfrm>
              <a:off x="1147382" y="4492027"/>
              <a:ext cx="21905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GitHub Link</a:t>
              </a:r>
              <a:endParaRPr kumimoji="1" lang="zh-CN" altLang="en-US" sz="2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448559F-1A79-391E-470F-3E50E8344AE3}"/>
                </a:ext>
              </a:extLst>
            </p:cNvPr>
            <p:cNvSpPr txBox="1"/>
            <p:nvPr/>
          </p:nvSpPr>
          <p:spPr>
            <a:xfrm>
              <a:off x="3716275" y="4492027"/>
              <a:ext cx="21905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Docs Link</a:t>
              </a:r>
              <a:endParaRPr kumimoji="1" lang="zh-CN" altLang="en-US" sz="2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2823FA4-CAB9-FB0C-F7D6-CA82BE3BE5D8}"/>
                </a:ext>
              </a:extLst>
            </p:cNvPr>
            <p:cNvSpPr txBox="1"/>
            <p:nvPr/>
          </p:nvSpPr>
          <p:spPr>
            <a:xfrm>
              <a:off x="6285168" y="4492027"/>
              <a:ext cx="21905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Website Link</a:t>
              </a:r>
              <a:endParaRPr kumimoji="1" lang="zh-CN" altLang="en-US" sz="2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9C4010F3-AB1C-5509-476F-A76E59C6F935}"/>
                </a:ext>
              </a:extLst>
            </p:cNvPr>
            <p:cNvGrpSpPr/>
            <p:nvPr/>
          </p:nvGrpSpPr>
          <p:grpSpPr>
            <a:xfrm>
              <a:off x="1342661" y="2529000"/>
              <a:ext cx="9506678" cy="1800000"/>
              <a:chOff x="1700551" y="2159000"/>
              <a:chExt cx="9506678" cy="1800000"/>
            </a:xfrm>
          </p:grpSpPr>
          <p:pic>
            <p:nvPicPr>
              <p:cNvPr id="8" name="图片 7" descr="QR 代码&#10;&#10;描述已自动生成">
                <a:extLst>
                  <a:ext uri="{FF2B5EF4-FFF2-40B4-BE49-F238E27FC236}">
                    <a16:creationId xmlns:a16="http://schemas.microsoft.com/office/drawing/2014/main" id="{1A71EC9E-CB77-B70D-78B7-7D982D2991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9444" y="2159000"/>
                <a:ext cx="1800000" cy="1800000"/>
              </a:xfrm>
              <a:prstGeom prst="rect">
                <a:avLst/>
              </a:prstGeom>
              <a:ln w="25400"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</p:pic>
          <p:pic>
            <p:nvPicPr>
              <p:cNvPr id="11" name="图片 10" descr="QR 代码&#10;&#10;描述已自动生成">
                <a:extLst>
                  <a:ext uri="{FF2B5EF4-FFF2-40B4-BE49-F238E27FC236}">
                    <a16:creationId xmlns:a16="http://schemas.microsoft.com/office/drawing/2014/main" id="{9B6EEFF6-8942-5134-CEF0-D21DE19515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0551" y="2159000"/>
                <a:ext cx="1800000" cy="1800000"/>
              </a:xfrm>
              <a:prstGeom prst="rect">
                <a:avLst/>
              </a:prstGeom>
              <a:ln w="25400"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</p:pic>
          <p:pic>
            <p:nvPicPr>
              <p:cNvPr id="14" name="图片 13" descr="QR 代码&#10;&#10;描述已自动生成">
                <a:extLst>
                  <a:ext uri="{FF2B5EF4-FFF2-40B4-BE49-F238E27FC236}">
                    <a16:creationId xmlns:a16="http://schemas.microsoft.com/office/drawing/2014/main" id="{B0E0F6C2-574F-0D06-4DDA-3CEEAD9B9A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38337" y="2159000"/>
                <a:ext cx="1800000" cy="1800000"/>
              </a:xfrm>
              <a:prstGeom prst="rect">
                <a:avLst/>
              </a:prstGeom>
              <a:ln w="25400"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</p:pic>
          <p:pic>
            <p:nvPicPr>
              <p:cNvPr id="21" name="图片 20" descr="QR 代码&#10;&#10;描述已自动生成">
                <a:extLst>
                  <a:ext uri="{FF2B5EF4-FFF2-40B4-BE49-F238E27FC236}">
                    <a16:creationId xmlns:a16="http://schemas.microsoft.com/office/drawing/2014/main" id="{D033E899-7E65-E2B5-1C98-8C88AEF477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07229" y="2159000"/>
                <a:ext cx="1800000" cy="1800000"/>
              </a:xfrm>
              <a:prstGeom prst="rect">
                <a:avLst/>
              </a:prstGeom>
              <a:ln w="25400"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</p:pic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4CF1B0A-2AD8-4F8F-6C53-FA259B1F9139}"/>
                </a:ext>
              </a:extLst>
            </p:cNvPr>
            <p:cNvSpPr txBox="1"/>
            <p:nvPr/>
          </p:nvSpPr>
          <p:spPr>
            <a:xfrm>
              <a:off x="8854061" y="4492027"/>
              <a:ext cx="21905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Paper Link</a:t>
              </a:r>
              <a:endParaRPr kumimoji="1" lang="zh-CN" altLang="en-US" sz="2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6" name="标题 1">
            <a:extLst>
              <a:ext uri="{FF2B5EF4-FFF2-40B4-BE49-F238E27FC236}">
                <a16:creationId xmlns:a16="http://schemas.microsoft.com/office/drawing/2014/main" id="{1795D1F0-AF3E-5142-4F05-B93017947029}"/>
              </a:ext>
            </a:extLst>
          </p:cNvPr>
          <p:cNvSpPr txBox="1">
            <a:spLocks/>
          </p:cNvSpPr>
          <p:nvPr/>
        </p:nvSpPr>
        <p:spPr>
          <a:xfrm>
            <a:off x="1236688" y="1578036"/>
            <a:ext cx="9718623" cy="1757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4400" b="1" i="1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Thank you!</a:t>
            </a:r>
            <a:endParaRPr kumimoji="1" lang="zh-CN" altLang="en-US" sz="44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925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4951</TotalTime>
  <Words>148</Words>
  <Application>Microsoft Macintosh PowerPoint</Application>
  <PresentationFormat>宽屏</PresentationFormat>
  <Paragraphs>34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Office 主题​​</vt:lpstr>
      <vt:lpstr>Use LLMAD to Solve Your Task  (Example on TSP Heuristic Design)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Rui</dc:creator>
  <cp:lastModifiedBy>ZHANG Rui</cp:lastModifiedBy>
  <cp:revision>21</cp:revision>
  <dcterms:created xsi:type="dcterms:W3CDTF">2024-12-23T07:45:42Z</dcterms:created>
  <dcterms:modified xsi:type="dcterms:W3CDTF">2026-02-06T10:28:25Z</dcterms:modified>
</cp:coreProperties>
</file>